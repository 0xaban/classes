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100 seconds.</a:t>
            </a:r>
          </a:p>
          <a:p/>
          <a:p>
            <a:r>
              <a:t>My project is Training AI to Pixelate with Code. The idea is to turn a short description into a small drawing and the program that makes it. Keeping the program means a user could change an object's color or position without rebuilding the image. Possible uses include sprites in small video games, interface icons, and examples for teaching.</a:t>
            </a:r>
          </a:p>
          <a:p/>
          <a:p>
            <a:r>
              <a:t>The example on this slide comes from the working renderer. The mushroom changes color, but its position and shape do not. This is a hand-authored program, not output from a trained model. It shows the result I want and gives me a concrete edit to check.</a:t>
            </a:r>
          </a:p>
          <a:p/>
          <a:p>
            <a:r>
              <a:t>Can preferences about rendered pictures improve a code model without hurting program reliability? A picture can look good but show the wrong object or color. A program can run correctly but produce something unrecognizable. I will keep those failures separate. The first half covers the problem and three parent papers. In the second half, I will explain the experiment and how I would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130 seconds.</a:t>
            </a:r>
          </a:p>
          <a:p/>
          <a:p>
            <a:r>
              <a:t>The three papers in consideration offer different contributions to the project. Published at ICLR 2024, AutomaTikZ, provides a means to automatically generate TikZ programs from descriptions of scientific graphics. The output is editable code that gets compiled and rendered. It does not demonstrate pixel-art generation. I use the idea of showing the program and the output image next to each other, not a claim that their results for scientific figures transfer to pixel art.</a:t>
            </a:r>
          </a:p>
          <a:p/>
          <a:p>
            <a:r>
              <a:t>Text2Reward, also at ICLR 2024, employs a language model to write reward functions for reinforcement learning. A different learning algorithm develops the policy using that reward function. My connection is narrower: the evaluation criteria should be specified and inspectable. I am able to verify if a program runs, uses permitted colors, and stays in the requested part of the canvas. However, those checks cannot inform if a generated pixel art looks like a mushroom.</a:t>
            </a:r>
          </a:p>
          <a:p/>
          <a:p>
            <a:r>
              <a:t>Diffusion-DPO, published at CVPR 2024, uses a pair of preferred and rejected images to train an image generator. For my project, that suggests comparing two renderings for the same prompt and using people's choices to improve generation. I would not use a denoising loss in a code-based model. My model produces text tokens, thus, to perform training, I would use language-model DPO with a frozen reference model.</a:t>
            </a:r>
          </a:p>
          <a:p/>
          <a:p>
            <a:r>
              <a:t>These works provide me with an executable representation, explicit checks and preference comparisons. Improving editable pixel art is not shown by any of these works. This transfer is what my work aims to 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70 seconds.</a:t>
            </a:r>
          </a:p>
          <a:p/>
          <a:p>
            <a:r>
              <a:t>The focus is on the illustration that’s most appealing and the one that answers the request and stays useful to edit. In this case, the request is for a red mushroom. The two illustrations show the same shape, but the blue one lacks the requested color. Someone could appreciate how the drawing looks and still think it’s the wrong answer. A single score could conceal the difference.</a:t>
            </a:r>
          </a:p>
          <a:p/>
          <a:p>
            <a:r>
              <a:t>I predict users will prefer the output of the tuned model, while maintaining reliability of valid code and simple edits. I would compare the results with the same code model before tuning. This method adapts existing practices; preference optimization itself is not new.</a:t>
            </a:r>
          </a:p>
          <a:p/>
          <a:p>
            <a:r>
              <a:t>Testing will begin with the rendering of five specified colored objects on a 32x32 canvas. This will be done to verify that the art creation tools work as designed before more complex scenes are tested. Success will help produce a small pilot. This will not validate general illustration or professional game art. The idea for this work began with a blog post about Qwen training. The three research papers provided support for this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120 seconds.</a:t>
            </a:r>
          </a:p>
          <a:p/>
          <a:p>
            <a:r>
              <a:t>The base model will be Qwen2.5-Coder-7B-Instruct. I would ask for two candidate programs per training prompt. Each program would draw rectangles using integer coordinates with hexadecimal colors to represent the fill. A separate renderer parses those calls. The renderer never executes the provided text as JavaScript, so the drawing program will have no file/network IO capability.</a:t>
            </a:r>
          </a:p>
          <a:p/>
          <a:p>
            <a:r>
              <a:t>Invalid programs are logged as failures. For preference training, I would show different valid renderings in a random order and ask which one better follows the prompt and resembles readable pixel art. In the annotation log, along with the prompt and the two programs, there is also a selection and reviewer ID. Ties are kept in the annotation log, without forcing a preference. The pair exporter already rejects test scenes and identical renderings.</a:t>
            </a:r>
          </a:p>
          <a:p/>
          <a:p>
            <a:r>
              <a:t>I would use token-level DPO with LoRA adapters and keep the original model as a frozen reference. The edited model would favor the chosen program relative to the rejected program, given their probabilities under the reference model. People judge the pictures, but the model learns from their code. The renderer stays the same.</a:t>
            </a:r>
          </a:p>
          <a:p/>
          <a:p>
            <a:r>
              <a:t>Only the parser, renderer, data builder, checks, and pair exporter have been implemented. Next, I will generate model candidates, collect real preferences, and run the tuning experiment. No trained checkpoint or preference result is claimed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120 seconds.</a:t>
            </a:r>
          </a:p>
          <a:p/>
          <a:p>
            <a:r>
              <a:t>The data is in the repository. It contains 120 prompts including five objects, six colors, and four positions. There are 100 training scenes and 20 test scenes. Each scene contains a reference drawing program and a fixed split. These references come from hand-authored sprite templates, not human preference labels. Candidates and paraphrases of a scene must be in the same split. Test reference code must not be provided to the model and must not be used to set training parameters.</a:t>
            </a:r>
          </a:p>
          <a:p/>
          <a:p>
            <a:r>
              <a:t>I will be using the same 20 test prompts to evaluate base and tuned models 60 times, using 3 different fixed generation seeds. Prompts, output limits, and sampling settings will be kept the same. Invalid programs will remain in the denominator. For usability, if only one output is valid, it will be considered the winner. If neither output is valid, the comparison will be considered a tie. Raters will be called in to adjudicate if both outputs are valid. Broken outputs are reported.</a:t>
            </a:r>
          </a:p>
          <a:p/>
          <a:p>
            <a:r>
              <a:t>For valid pairs, I would seek three independent raters and hide model names. I would randomize left and right positions. Raters would provide preference scores, prompt compliance scores, and appearance scores. I would disclose the actual number of raters, disagreements, and ties. A recolor check would determine if every pixel of the target color changed and if all other pixels were unchanged. The structural checks would evaluate the palette and position. These checks would not assess object recognition or artistic quality.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60 seconds.</a:t>
            </a:r>
          </a:p>
          <a:p/>
          <a:p>
            <a:r>
              <a:t>My targets are at least 95% validity and at least 60% preference credit, with ties worth half. These are proposed goals, not achieved results. I expect validity and prompt compliance to remain at or above the base model levels. There are only 20 unique test prompts, so in order to be conservative in how I treat uncertainty in my estimation, I’d resample whole prompts and keep their three seed comparisons together. If the 95% interval for preference includes 50%, I would say the result is inconclusive.</a:t>
            </a:r>
          </a:p>
          <a:p/>
          <a:p>
            <a:r>
              <a:t>The code and dataset are linked here. The demo shows that reference programs render and recolor correctly. I still need to generate model candidates, collect real preferences, train the adapter, and do the held-out comparison. Can learning from pictures improve the drawings while keeping the code useful to edit?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hyperlink" Target="https://proceedings.iclr.cc/paper_files/paper/2024/hash/f7641940c7dd9e5de58c20e39586eb64-Abstract-Conference.html" TargetMode="External"/><Relationship Id="rId5" Type="http://schemas.openxmlformats.org/officeDocument/2006/relationships/hyperlink" Target="https://text-to-reward.github.io/" TargetMode="External"/><Relationship Id="rId6" Type="http://schemas.openxmlformats.org/officeDocument/2006/relationships/hyperlink" Target="https://arxiv.org/abs/2311.1290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4.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hyperlink" Target="https://github.com/0xABAN/classes/tree/main/ds-340w" TargetMode="External"/><Relationship Id="rId5" Type="http://schemas.openxmlformats.org/officeDocument/2006/relationships/hyperlink" Target="https://github.com/0xABAN/classes/blob/main/ds-340w/data/prompts.json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lnSpc>
                <a:spcPct val="120000"/>
              </a:lnSpc>
              <a:spcAft>
                <a:spcPts val="0"/>
              </a:spcAft>
              <a:defRPr sz="3600" b="0">
                <a:solidFill>
                  <a:srgbClr val="181D16"/>
                </a:solidFill>
                <a:latin typeface="Arial"/>
              </a:defRPr>
            </a:pPr>
            <a:r>
              <a:t>Training AI to Pixelate with Code</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lnSpc>
                <a:spcPct val="120000"/>
              </a:lnSpc>
              <a:spcAft>
                <a:spcPts val="0"/>
              </a:spcAft>
              <a:defRPr sz="1100" b="0">
                <a:solidFill>
                  <a:srgbClr val="686C66"/>
                </a:solidFill>
                <a:latin typeface="Arial"/>
              </a:defRPr>
            </a:pPr>
            <a:r>
              <a:t>01/06</a:t>
            </a:r>
          </a:p>
        </p:txBody>
      </p:sp>
      <p:sp>
        <p:nvSpPr>
          <p:cNvPr id="5" name="TextBox 4"/>
          <p:cNvSpPr txBox="1"/>
          <p:nvPr/>
        </p:nvSpPr>
        <p:spPr>
          <a:xfrm>
            <a:off x="603504" y="1783080"/>
            <a:ext cx="10058400" cy="365760"/>
          </a:xfrm>
          <a:prstGeom prst="rect">
            <a:avLst/>
          </a:prstGeom>
          <a:noFill/>
        </p:spPr>
        <p:txBody>
          <a:bodyPr wrap="square" lIns="0" rIns="0" tIns="0" bIns="0">
            <a:spAutoFit/>
          </a:bodyPr>
          <a:lstStyle/>
          <a:p>
            <a:pPr>
              <a:lnSpc>
                <a:spcPct val="120000"/>
              </a:lnSpc>
              <a:spcAft>
                <a:spcPts val="0"/>
              </a:spcAft>
              <a:defRPr sz="2000" b="0">
                <a:solidFill>
                  <a:srgbClr val="686C66"/>
                </a:solidFill>
                <a:latin typeface="Arial"/>
              </a:defRPr>
            </a:pPr>
            <a:r>
              <a:t>Team 7 · Adam Torres Encarnacion</a:t>
            </a:r>
          </a:p>
        </p:txBody>
      </p:sp>
      <p:sp>
        <p:nvSpPr>
          <p:cNvPr id="6" name="TextBox 5"/>
          <p:cNvSpPr txBox="1"/>
          <p:nvPr/>
        </p:nvSpPr>
        <p:spPr>
          <a:xfrm>
            <a:off x="896112" y="2423160"/>
            <a:ext cx="10058400" cy="457200"/>
          </a:xfrm>
          <a:prstGeom prst="rect">
            <a:avLst/>
          </a:prstGeom>
          <a:noFill/>
        </p:spPr>
        <p:txBody>
          <a:bodyPr wrap="square" lIns="0" rIns="0" tIns="0" bIns="0">
            <a:spAutoFit/>
          </a:bodyPr>
          <a:lstStyle/>
          <a:p>
            <a:pPr>
              <a:lnSpc>
                <a:spcPct val="120000"/>
              </a:lnSpc>
              <a:spcAft>
                <a:spcPts val="0"/>
              </a:spcAft>
              <a:defRPr sz="2800" b="0">
                <a:solidFill>
                  <a:srgbClr val="181D16"/>
                </a:solidFill>
                <a:latin typeface="Arial"/>
              </a:defRPr>
            </a:pPr>
            <a:r>
              <a:t>Make a drawing. Keep the code editable.</a:t>
            </a:r>
          </a:p>
        </p:txBody>
      </p:sp>
      <p:pic>
        <p:nvPicPr>
          <p:cNvPr id="7" name="Picture 6" descr="image.png"/>
          <p:cNvPicPr>
            <a:picLocks noChangeAspect="1"/>
          </p:cNvPicPr>
          <p:nvPr/>
        </p:nvPicPr>
        <p:blipFill>
          <a:blip r:embed="rId4"/>
          <a:stretch>
            <a:fillRect/>
          </a:stretch>
        </p:blipFill>
        <p:spPr>
          <a:xfrm>
            <a:off x="1234440" y="3200400"/>
            <a:ext cx="1920240" cy="1920240"/>
          </a:xfrm>
          <a:prstGeom prst="rect">
            <a:avLst/>
          </a:prstGeom>
        </p:spPr>
      </p:pic>
      <p:pic>
        <p:nvPicPr>
          <p:cNvPr id="8" name="Picture 7" descr="image.png"/>
          <p:cNvPicPr>
            <a:picLocks noChangeAspect="1"/>
          </p:cNvPicPr>
          <p:nvPr/>
        </p:nvPicPr>
        <p:blipFill>
          <a:blip r:embed="rId5"/>
          <a:stretch>
            <a:fillRect/>
          </a:stretch>
        </p:blipFill>
        <p:spPr>
          <a:xfrm>
            <a:off x="6537960" y="3200400"/>
            <a:ext cx="1920240" cy="1920240"/>
          </a:xfrm>
          <a:prstGeom prst="rect">
            <a:avLst/>
          </a:prstGeom>
        </p:spPr>
      </p:pic>
      <p:sp>
        <p:nvSpPr>
          <p:cNvPr id="9" name="TextBox 8"/>
          <p:cNvSpPr txBox="1"/>
          <p:nvPr/>
        </p:nvSpPr>
        <p:spPr>
          <a:xfrm>
            <a:off x="4251960" y="3657600"/>
            <a:ext cx="1188720" cy="731520"/>
          </a:xfrm>
          <a:prstGeom prst="rect">
            <a:avLst/>
          </a:prstGeom>
          <a:noFill/>
        </p:spPr>
        <p:txBody>
          <a:bodyPr wrap="square" lIns="0" rIns="0" tIns="0" bIns="0">
            <a:spAutoFit/>
          </a:bodyPr>
          <a:lstStyle/>
          <a:p>
            <a:pPr>
              <a:lnSpc>
                <a:spcPct val="120000"/>
              </a:lnSpc>
              <a:spcAft>
                <a:spcPts val="0"/>
              </a:spcAft>
              <a:defRPr sz="4200" b="0">
                <a:solidFill>
                  <a:srgbClr val="C65326"/>
                </a:solidFill>
                <a:latin typeface="Arial"/>
              </a:defRPr>
            </a:pPr>
            <a:r>
              <a:t>→</a:t>
            </a:r>
          </a:p>
        </p:txBody>
      </p:sp>
      <p:sp>
        <p:nvSpPr>
          <p:cNvPr id="10" name="TextBox 9"/>
          <p:cNvSpPr txBox="1"/>
          <p:nvPr/>
        </p:nvSpPr>
        <p:spPr>
          <a:xfrm>
            <a:off x="1234440" y="5321808"/>
            <a:ext cx="3200400" cy="365760"/>
          </a:xfrm>
          <a:prstGeom prst="rect">
            <a:avLst/>
          </a:prstGeom>
          <a:noFill/>
        </p:spPr>
        <p:txBody>
          <a:bodyPr wrap="square" lIns="0" rIns="0" tIns="0" bIns="0">
            <a:spAutoFit/>
          </a:bodyPr>
          <a:lstStyle/>
          <a:p>
            <a:pPr>
              <a:lnSpc>
                <a:spcPct val="120000"/>
              </a:lnSpc>
              <a:spcAft>
                <a:spcPts val="0"/>
              </a:spcAft>
              <a:defRPr sz="2000" b="0">
                <a:solidFill>
                  <a:srgbClr val="181D16"/>
                </a:solidFill>
                <a:latin typeface="Arial"/>
              </a:defRPr>
            </a:pPr>
            <a:r>
              <a:t>Original</a:t>
            </a:r>
          </a:p>
        </p:txBody>
      </p:sp>
      <p:sp>
        <p:nvSpPr>
          <p:cNvPr id="11" name="TextBox 10"/>
          <p:cNvSpPr txBox="1"/>
          <p:nvPr/>
        </p:nvSpPr>
        <p:spPr>
          <a:xfrm>
            <a:off x="5943600" y="5321808"/>
            <a:ext cx="5303520" cy="411480"/>
          </a:xfrm>
          <a:prstGeom prst="rect">
            <a:avLst/>
          </a:prstGeom>
          <a:noFill/>
        </p:spPr>
        <p:txBody>
          <a:bodyPr wrap="square" lIns="0" rIns="0" tIns="0" bIns="0">
            <a:spAutoFit/>
          </a:bodyPr>
          <a:lstStyle/>
          <a:p>
            <a:pPr>
              <a:lnSpc>
                <a:spcPct val="120000"/>
              </a:lnSpc>
              <a:spcAft>
                <a:spcPts val="0"/>
              </a:spcAft>
              <a:defRPr sz="2000" b="0">
                <a:solidFill>
                  <a:srgbClr val="181D16"/>
                </a:solidFill>
                <a:latin typeface="Arial"/>
              </a:defRPr>
            </a:pPr>
            <a:r>
              <a:t>Change the color, keep the shape</a:t>
            </a:r>
          </a:p>
        </p:txBody>
      </p:sp>
      <p:sp>
        <p:nvSpPr>
          <p:cNvPr id="12" name="TextBox 11"/>
          <p:cNvSpPr txBox="1"/>
          <p:nvPr/>
        </p:nvSpPr>
        <p:spPr>
          <a:xfrm>
            <a:off x="896112" y="5897880"/>
            <a:ext cx="10058400" cy="274320"/>
          </a:xfrm>
          <a:prstGeom prst="rect">
            <a:avLst/>
          </a:prstGeom>
          <a:noFill/>
        </p:spPr>
        <p:txBody>
          <a:bodyPr wrap="square" lIns="0" rIns="0" tIns="0" bIns="0">
            <a:spAutoFit/>
          </a:bodyPr>
          <a:lstStyle/>
          <a:p>
            <a:pPr>
              <a:lnSpc>
                <a:spcPct val="120000"/>
              </a:lnSpc>
              <a:spcAft>
                <a:spcPts val="0"/>
              </a:spcAft>
              <a:defRPr sz="1300" b="0">
                <a:solidFill>
                  <a:srgbClr val="686C66"/>
                </a:solidFill>
                <a:latin typeface="Arial"/>
              </a:defRPr>
            </a:pPr>
            <a:r>
              <a:t>Working reference example, not model output</a:t>
            </a:r>
          </a:p>
        </p:txBody>
      </p:sp>
      <p:sp>
        <p:nvSpPr>
          <p:cNvPr id="13" name="TextBox 12"/>
          <p:cNvSpPr txBox="1"/>
          <p:nvPr/>
        </p:nvSpPr>
        <p:spPr>
          <a:xfrm>
            <a:off x="896112" y="6309360"/>
            <a:ext cx="9784080" cy="274320"/>
          </a:xfrm>
          <a:prstGeom prst="rect">
            <a:avLst/>
          </a:prstGeom>
          <a:noFill/>
        </p:spPr>
        <p:txBody>
          <a:bodyPr wrap="square" lIns="0" rIns="0" tIns="0" bIns="0">
            <a:spAutoFit/>
          </a:bodyPr>
          <a:lstStyle/>
          <a:p>
            <a:pPr>
              <a:lnSpc>
                <a:spcPct val="120000"/>
              </a:lnSpc>
              <a:spcAft>
                <a:spcPts val="0"/>
              </a:spcAft>
              <a:defRPr sz="1200" b="0">
                <a:solidFill>
                  <a:srgbClr val="686C66"/>
                </a:solidFill>
                <a:latin typeface="Arial"/>
              </a:defRPr>
            </a:pPr>
            <a:r>
              <a:t>Problem + parent papers: 5 min · Method + evaluation: 5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lnSpc>
                <a:spcPct val="120000"/>
              </a:lnSpc>
              <a:spcAft>
                <a:spcPts val="0"/>
              </a:spcAft>
              <a:defRPr sz="3600" b="0">
                <a:solidFill>
                  <a:srgbClr val="181D16"/>
                </a:solidFill>
                <a:latin typeface="Arial"/>
              </a:defRPr>
            </a:pPr>
            <a:r>
              <a:t>Three papers, one proposed workflow</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lnSpc>
                <a:spcPct val="120000"/>
              </a:lnSpc>
              <a:spcAft>
                <a:spcPts val="0"/>
              </a:spcAft>
              <a:defRPr sz="1100" b="0">
                <a:solidFill>
                  <a:srgbClr val="686C66"/>
                </a:solidFill>
                <a:latin typeface="Arial"/>
              </a:defRPr>
            </a:pPr>
            <a:r>
              <a:t>02/06</a:t>
            </a:r>
          </a:p>
        </p:txBody>
      </p:sp>
      <p:sp>
        <p:nvSpPr>
          <p:cNvPr id="5" name="TextBox 4"/>
          <p:cNvSpPr txBox="1"/>
          <p:nvPr/>
        </p:nvSpPr>
        <p:spPr>
          <a:xfrm>
            <a:off x="896112" y="2057400"/>
            <a:ext cx="2743200" cy="411480"/>
          </a:xfrm>
          <a:prstGeom prst="rect">
            <a:avLst/>
          </a:prstGeom>
          <a:noFill/>
        </p:spPr>
        <p:txBody>
          <a:bodyPr wrap="square" lIns="0" rIns="0" tIns="0" bIns="0">
            <a:spAutoFit/>
          </a:bodyPr>
          <a:lstStyle/>
          <a:p>
            <a:pPr>
              <a:lnSpc>
                <a:spcPct val="120000"/>
              </a:lnSpc>
              <a:spcAft>
                <a:spcPts val="0"/>
              </a:spcAft>
              <a:defRPr sz="2500" b="0">
                <a:solidFill>
                  <a:srgbClr val="7963AF"/>
                </a:solidFill>
                <a:latin typeface="Arial"/>
              </a:defRPr>
            </a:pPr>
            <a:r>
              <a:rPr u="none">
                <a:solidFill>
                  <a:srgbClr val="7963AF"/>
                </a:solidFill>
                <a:hlinkClick r:id="rId4"/>
              </a:rPr>
              <a:t>AutomaTikZ</a:t>
            </a:r>
          </a:p>
        </p:txBody>
      </p:sp>
      <p:sp>
        <p:nvSpPr>
          <p:cNvPr id="6" name="TextBox 5"/>
          <p:cNvSpPr txBox="1"/>
          <p:nvPr/>
        </p:nvSpPr>
        <p:spPr>
          <a:xfrm>
            <a:off x="896112" y="2496312"/>
            <a:ext cx="2743200" cy="274320"/>
          </a:xfrm>
          <a:prstGeom prst="rect">
            <a:avLst/>
          </a:prstGeom>
          <a:noFill/>
        </p:spPr>
        <p:txBody>
          <a:bodyPr wrap="square" lIns="0" rIns="0" tIns="0" bIns="0">
            <a:spAutoFit/>
          </a:bodyPr>
          <a:lstStyle/>
          <a:p>
            <a:pPr>
              <a:lnSpc>
                <a:spcPct val="120000"/>
              </a:lnSpc>
              <a:spcAft>
                <a:spcPts val="0"/>
              </a:spcAft>
              <a:defRPr sz="1600" b="0">
                <a:solidFill>
                  <a:srgbClr val="686C66"/>
                </a:solidFill>
                <a:latin typeface="Arial"/>
              </a:defRPr>
            </a:pPr>
            <a:r>
              <a:t>ICLR 2024</a:t>
            </a:r>
          </a:p>
        </p:txBody>
      </p:sp>
      <p:sp>
        <p:nvSpPr>
          <p:cNvPr id="7" name="TextBox 6"/>
          <p:cNvSpPr txBox="1"/>
          <p:nvPr/>
        </p:nvSpPr>
        <p:spPr>
          <a:xfrm>
            <a:off x="3977639" y="2057400"/>
            <a:ext cx="7040880" cy="41148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Generate editable graphics code</a:t>
            </a:r>
          </a:p>
        </p:txBody>
      </p:sp>
      <p:sp>
        <p:nvSpPr>
          <p:cNvPr id="8" name="TextBox 7"/>
          <p:cNvSpPr txBox="1"/>
          <p:nvPr/>
        </p:nvSpPr>
        <p:spPr>
          <a:xfrm>
            <a:off x="3977639" y="2514600"/>
            <a:ext cx="7040880" cy="365760"/>
          </a:xfrm>
          <a:prstGeom prst="rect">
            <a:avLst/>
          </a:prstGeom>
          <a:noFill/>
        </p:spPr>
        <p:txBody>
          <a:bodyPr wrap="square" lIns="0" rIns="0" tIns="0" bIns="0">
            <a:spAutoFit/>
          </a:bodyPr>
          <a:lstStyle/>
          <a:p>
            <a:pPr>
              <a:lnSpc>
                <a:spcPct val="120000"/>
              </a:lnSpc>
              <a:spcAft>
                <a:spcPts val="0"/>
              </a:spcAft>
              <a:defRPr sz="2000" b="0">
                <a:solidFill>
                  <a:srgbClr val="686C66"/>
                </a:solidFill>
                <a:latin typeface="Arial"/>
              </a:defRPr>
            </a:pPr>
            <a:r>
              <a:t>Keep code with its rendered image</a:t>
            </a:r>
          </a:p>
        </p:txBody>
      </p:sp>
      <p:cxnSp>
        <p:nvCxnSpPr>
          <p:cNvPr id="9" name="Connector 8"/>
          <p:cNvCxnSpPr/>
          <p:nvPr/>
        </p:nvCxnSpPr>
        <p:spPr>
          <a:xfrm>
            <a:off x="896112" y="2999232"/>
            <a:ext cx="10149840" cy="0"/>
          </a:xfrm>
          <a:prstGeom prst="line">
            <a:avLst/>
          </a:prstGeom>
          <a:ln w="12700">
            <a:solidFill>
              <a:srgbClr val="D4D6D0"/>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96112" y="3200400"/>
            <a:ext cx="2743200" cy="411480"/>
          </a:xfrm>
          <a:prstGeom prst="rect">
            <a:avLst/>
          </a:prstGeom>
          <a:noFill/>
        </p:spPr>
        <p:txBody>
          <a:bodyPr wrap="square" lIns="0" rIns="0" tIns="0" bIns="0">
            <a:spAutoFit/>
          </a:bodyPr>
          <a:lstStyle/>
          <a:p>
            <a:pPr>
              <a:lnSpc>
                <a:spcPct val="120000"/>
              </a:lnSpc>
              <a:spcAft>
                <a:spcPts val="0"/>
              </a:spcAft>
              <a:defRPr sz="2500" b="0">
                <a:solidFill>
                  <a:srgbClr val="7963AF"/>
                </a:solidFill>
                <a:latin typeface="Arial"/>
              </a:defRPr>
            </a:pPr>
            <a:r>
              <a:rPr u="none">
                <a:solidFill>
                  <a:srgbClr val="7963AF"/>
                </a:solidFill>
                <a:hlinkClick r:id="rId5"/>
              </a:rPr>
              <a:t>Text2Reward</a:t>
            </a:r>
          </a:p>
        </p:txBody>
      </p:sp>
      <p:sp>
        <p:nvSpPr>
          <p:cNvPr id="11" name="TextBox 10"/>
          <p:cNvSpPr txBox="1"/>
          <p:nvPr/>
        </p:nvSpPr>
        <p:spPr>
          <a:xfrm>
            <a:off x="896112" y="3639312"/>
            <a:ext cx="2743200" cy="274320"/>
          </a:xfrm>
          <a:prstGeom prst="rect">
            <a:avLst/>
          </a:prstGeom>
          <a:noFill/>
        </p:spPr>
        <p:txBody>
          <a:bodyPr wrap="square" lIns="0" rIns="0" tIns="0" bIns="0">
            <a:spAutoFit/>
          </a:bodyPr>
          <a:lstStyle/>
          <a:p>
            <a:pPr>
              <a:lnSpc>
                <a:spcPct val="120000"/>
              </a:lnSpc>
              <a:spcAft>
                <a:spcPts val="0"/>
              </a:spcAft>
              <a:defRPr sz="1600" b="0">
                <a:solidFill>
                  <a:srgbClr val="686C66"/>
                </a:solidFill>
                <a:latin typeface="Arial"/>
              </a:defRPr>
            </a:pPr>
            <a:r>
              <a:t>ICLR 2024</a:t>
            </a:r>
          </a:p>
        </p:txBody>
      </p:sp>
      <p:sp>
        <p:nvSpPr>
          <p:cNvPr id="12" name="TextBox 11"/>
          <p:cNvSpPr txBox="1"/>
          <p:nvPr/>
        </p:nvSpPr>
        <p:spPr>
          <a:xfrm>
            <a:off x="3977639" y="3200400"/>
            <a:ext cx="7040880" cy="41148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Write inspectable reward code</a:t>
            </a:r>
          </a:p>
        </p:txBody>
      </p:sp>
      <p:sp>
        <p:nvSpPr>
          <p:cNvPr id="13" name="TextBox 12"/>
          <p:cNvSpPr txBox="1"/>
          <p:nvPr/>
        </p:nvSpPr>
        <p:spPr>
          <a:xfrm>
            <a:off x="3977639" y="3657600"/>
            <a:ext cx="7040880" cy="365760"/>
          </a:xfrm>
          <a:prstGeom prst="rect">
            <a:avLst/>
          </a:prstGeom>
          <a:noFill/>
        </p:spPr>
        <p:txBody>
          <a:bodyPr wrap="square" lIns="0" rIns="0" tIns="0" bIns="0">
            <a:spAutoFit/>
          </a:bodyPr>
          <a:lstStyle/>
          <a:p>
            <a:pPr>
              <a:lnSpc>
                <a:spcPct val="120000"/>
              </a:lnSpc>
              <a:spcAft>
                <a:spcPts val="0"/>
              </a:spcAft>
              <a:defRPr sz="2000" b="0">
                <a:solidFill>
                  <a:srgbClr val="686C66"/>
                </a:solidFill>
                <a:latin typeface="Arial"/>
              </a:defRPr>
            </a:pPr>
            <a:r>
              <a:t>Make technical checks explicit</a:t>
            </a:r>
          </a:p>
        </p:txBody>
      </p:sp>
      <p:cxnSp>
        <p:nvCxnSpPr>
          <p:cNvPr id="14" name="Connector 13"/>
          <p:cNvCxnSpPr/>
          <p:nvPr/>
        </p:nvCxnSpPr>
        <p:spPr>
          <a:xfrm>
            <a:off x="896112" y="4142232"/>
            <a:ext cx="10149840" cy="0"/>
          </a:xfrm>
          <a:prstGeom prst="line">
            <a:avLst/>
          </a:prstGeom>
          <a:ln w="12700">
            <a:solidFill>
              <a:srgbClr val="D4D6D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4343400"/>
            <a:ext cx="2743200" cy="411480"/>
          </a:xfrm>
          <a:prstGeom prst="rect">
            <a:avLst/>
          </a:prstGeom>
          <a:noFill/>
        </p:spPr>
        <p:txBody>
          <a:bodyPr wrap="square" lIns="0" rIns="0" tIns="0" bIns="0">
            <a:spAutoFit/>
          </a:bodyPr>
          <a:lstStyle/>
          <a:p>
            <a:pPr>
              <a:lnSpc>
                <a:spcPct val="120000"/>
              </a:lnSpc>
              <a:spcAft>
                <a:spcPts val="0"/>
              </a:spcAft>
              <a:defRPr sz="2500" b="0">
                <a:solidFill>
                  <a:srgbClr val="7963AF"/>
                </a:solidFill>
                <a:latin typeface="Arial"/>
              </a:defRPr>
            </a:pPr>
            <a:r>
              <a:rPr u="none">
                <a:solidFill>
                  <a:srgbClr val="7963AF"/>
                </a:solidFill>
                <a:hlinkClick r:id="rId6"/>
              </a:rPr>
              <a:t>Diffusion-DPO</a:t>
            </a:r>
          </a:p>
        </p:txBody>
      </p:sp>
      <p:sp>
        <p:nvSpPr>
          <p:cNvPr id="16" name="TextBox 15"/>
          <p:cNvSpPr txBox="1"/>
          <p:nvPr/>
        </p:nvSpPr>
        <p:spPr>
          <a:xfrm>
            <a:off x="896112" y="4782312"/>
            <a:ext cx="2743200" cy="274320"/>
          </a:xfrm>
          <a:prstGeom prst="rect">
            <a:avLst/>
          </a:prstGeom>
          <a:noFill/>
        </p:spPr>
        <p:txBody>
          <a:bodyPr wrap="square" lIns="0" rIns="0" tIns="0" bIns="0">
            <a:spAutoFit/>
          </a:bodyPr>
          <a:lstStyle/>
          <a:p>
            <a:pPr>
              <a:lnSpc>
                <a:spcPct val="120000"/>
              </a:lnSpc>
              <a:spcAft>
                <a:spcPts val="0"/>
              </a:spcAft>
              <a:defRPr sz="1600" b="0">
                <a:solidFill>
                  <a:srgbClr val="686C66"/>
                </a:solidFill>
                <a:latin typeface="Arial"/>
              </a:defRPr>
            </a:pPr>
            <a:r>
              <a:t>CVPR 2024</a:t>
            </a:r>
          </a:p>
        </p:txBody>
      </p:sp>
      <p:sp>
        <p:nvSpPr>
          <p:cNvPr id="17" name="TextBox 16"/>
          <p:cNvSpPr txBox="1"/>
          <p:nvPr/>
        </p:nvSpPr>
        <p:spPr>
          <a:xfrm>
            <a:off x="3977639" y="4343400"/>
            <a:ext cx="7040880" cy="41148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Learn from preferred image pairs</a:t>
            </a:r>
          </a:p>
        </p:txBody>
      </p:sp>
      <p:sp>
        <p:nvSpPr>
          <p:cNvPr id="18" name="TextBox 17"/>
          <p:cNvSpPr txBox="1"/>
          <p:nvPr/>
        </p:nvSpPr>
        <p:spPr>
          <a:xfrm>
            <a:off x="3977639" y="4800600"/>
            <a:ext cx="7040880" cy="365760"/>
          </a:xfrm>
          <a:prstGeom prst="rect">
            <a:avLst/>
          </a:prstGeom>
          <a:noFill/>
        </p:spPr>
        <p:txBody>
          <a:bodyPr wrap="square" lIns="0" rIns="0" tIns="0" bIns="0">
            <a:spAutoFit/>
          </a:bodyPr>
          <a:lstStyle/>
          <a:p>
            <a:pPr>
              <a:lnSpc>
                <a:spcPct val="120000"/>
              </a:lnSpc>
              <a:spcAft>
                <a:spcPts val="0"/>
              </a:spcAft>
              <a:defRPr sz="2000" b="0">
                <a:solidFill>
                  <a:srgbClr val="686C66"/>
                </a:solidFill>
                <a:latin typeface="Arial"/>
              </a:defRPr>
            </a:pPr>
            <a:r>
              <a:t>Compare pictures; train on code</a:t>
            </a:r>
          </a:p>
        </p:txBody>
      </p:sp>
      <p:sp>
        <p:nvSpPr>
          <p:cNvPr id="19" name="TextBox 18"/>
          <p:cNvSpPr txBox="1"/>
          <p:nvPr/>
        </p:nvSpPr>
        <p:spPr>
          <a:xfrm>
            <a:off x="896112" y="5833872"/>
            <a:ext cx="10332720" cy="502920"/>
          </a:xfrm>
          <a:prstGeom prst="rect">
            <a:avLst/>
          </a:prstGeom>
          <a:noFill/>
        </p:spPr>
        <p:txBody>
          <a:bodyPr wrap="square" lIns="0" rIns="0" tIns="0" bIns="0">
            <a:spAutoFit/>
          </a:bodyPr>
          <a:lstStyle/>
          <a:p>
            <a:pPr>
              <a:lnSpc>
                <a:spcPct val="120000"/>
              </a:lnSpc>
              <a:spcAft>
                <a:spcPts val="0"/>
              </a:spcAft>
              <a:defRPr sz="1900" b="0">
                <a:solidFill>
                  <a:srgbClr val="181D16"/>
                </a:solidFill>
                <a:latin typeface="Arial"/>
              </a:defRPr>
            </a:pPr>
            <a:r>
              <a:t>These papers motivate the project. They do not prove it works for pixel 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lnSpc>
                <a:spcPct val="120000"/>
              </a:lnSpc>
              <a:spcAft>
                <a:spcPts val="0"/>
              </a:spcAft>
              <a:defRPr sz="3600" b="0">
                <a:solidFill>
                  <a:srgbClr val="181D16"/>
                </a:solidFill>
                <a:latin typeface="Arial"/>
              </a:defRPr>
            </a:pPr>
            <a:r>
              <a:t>A good-looking picture can still be wrong</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lnSpc>
                <a:spcPct val="120000"/>
              </a:lnSpc>
              <a:spcAft>
                <a:spcPts val="0"/>
              </a:spcAft>
              <a:defRPr sz="1100" b="0">
                <a:solidFill>
                  <a:srgbClr val="686C66"/>
                </a:solidFill>
                <a:latin typeface="Arial"/>
              </a:defRPr>
            </a:pPr>
            <a:r>
              <a:t>03/06</a:t>
            </a:r>
          </a:p>
        </p:txBody>
      </p:sp>
      <p:sp>
        <p:nvSpPr>
          <p:cNvPr id="5" name="TextBox 4"/>
          <p:cNvSpPr txBox="1"/>
          <p:nvPr/>
        </p:nvSpPr>
        <p:spPr>
          <a:xfrm>
            <a:off x="896112" y="1847088"/>
            <a:ext cx="10241280" cy="868680"/>
          </a:xfrm>
          <a:prstGeom prst="rect">
            <a:avLst/>
          </a:prstGeom>
          <a:noFill/>
        </p:spPr>
        <p:txBody>
          <a:bodyPr wrap="square" lIns="0" rIns="0" tIns="0" bIns="0">
            <a:spAutoFit/>
          </a:bodyPr>
          <a:lstStyle/>
          <a:p>
            <a:pPr>
              <a:lnSpc>
                <a:spcPct val="120000"/>
              </a:lnSpc>
              <a:spcAft>
                <a:spcPts val="0"/>
              </a:spcAft>
              <a:defRPr sz="2700" b="0">
                <a:solidFill>
                  <a:srgbClr val="181D16"/>
                </a:solidFill>
                <a:latin typeface="Arial"/>
              </a:defRPr>
            </a:pPr>
            <a:r>
              <a:t>Will preference tuning improve pixel art</a:t>
            </a:r>
          </a:p>
          <a:p>
            <a:pPr>
              <a:lnSpc>
                <a:spcPct val="120000"/>
              </a:lnSpc>
              <a:spcAft>
                <a:spcPts val="0"/>
              </a:spcAft>
              <a:defRPr sz="2700" b="0">
                <a:solidFill>
                  <a:srgbClr val="181D16"/>
                </a:solidFill>
                <a:latin typeface="Arial"/>
              </a:defRPr>
            </a:pPr>
            <a:r>
              <a:t>without breaking the code or simple edits?</a:t>
            </a:r>
          </a:p>
        </p:txBody>
      </p:sp>
      <p:sp>
        <p:nvSpPr>
          <p:cNvPr id="6" name="TextBox 5"/>
          <p:cNvSpPr txBox="1"/>
          <p:nvPr/>
        </p:nvSpPr>
        <p:spPr>
          <a:xfrm>
            <a:off x="896112" y="2852928"/>
            <a:ext cx="10058400" cy="365760"/>
          </a:xfrm>
          <a:prstGeom prst="rect">
            <a:avLst/>
          </a:prstGeom>
          <a:noFill/>
        </p:spPr>
        <p:txBody>
          <a:bodyPr wrap="square" lIns="0" rIns="0" tIns="0" bIns="0">
            <a:spAutoFit/>
          </a:bodyPr>
          <a:lstStyle/>
          <a:p>
            <a:pPr>
              <a:lnSpc>
                <a:spcPct val="120000"/>
              </a:lnSpc>
              <a:spcAft>
                <a:spcPts val="0"/>
              </a:spcAft>
              <a:defRPr sz="2000" b="0">
                <a:solidFill>
                  <a:srgbClr val="686C66"/>
                </a:solidFill>
                <a:latin typeface="Arial"/>
              </a:defRPr>
            </a:pPr>
            <a:r>
              <a:t>Request: a red mushroom</a:t>
            </a:r>
          </a:p>
        </p:txBody>
      </p:sp>
      <p:pic>
        <p:nvPicPr>
          <p:cNvPr id="7" name="Picture 6" descr="image.png"/>
          <p:cNvPicPr>
            <a:picLocks noChangeAspect="1"/>
          </p:cNvPicPr>
          <p:nvPr/>
        </p:nvPicPr>
        <p:blipFill>
          <a:blip r:embed="rId4"/>
          <a:stretch>
            <a:fillRect/>
          </a:stretch>
        </p:blipFill>
        <p:spPr>
          <a:xfrm>
            <a:off x="1508760" y="3474720"/>
            <a:ext cx="1508760" cy="1508760"/>
          </a:xfrm>
          <a:prstGeom prst="rect">
            <a:avLst/>
          </a:prstGeom>
        </p:spPr>
      </p:pic>
      <p:pic>
        <p:nvPicPr>
          <p:cNvPr id="8" name="Picture 7" descr="image.png"/>
          <p:cNvPicPr>
            <a:picLocks noChangeAspect="1"/>
          </p:cNvPicPr>
          <p:nvPr/>
        </p:nvPicPr>
        <p:blipFill>
          <a:blip r:embed="rId5"/>
          <a:stretch>
            <a:fillRect/>
          </a:stretch>
        </p:blipFill>
        <p:spPr>
          <a:xfrm>
            <a:off x="6995160" y="3474720"/>
            <a:ext cx="1508760" cy="1508760"/>
          </a:xfrm>
          <a:prstGeom prst="rect">
            <a:avLst/>
          </a:prstGeom>
        </p:spPr>
      </p:pic>
      <p:sp>
        <p:nvSpPr>
          <p:cNvPr id="9" name="TextBox 8"/>
          <p:cNvSpPr txBox="1"/>
          <p:nvPr/>
        </p:nvSpPr>
        <p:spPr>
          <a:xfrm>
            <a:off x="896112" y="5166360"/>
            <a:ext cx="5029200" cy="457200"/>
          </a:xfrm>
          <a:prstGeom prst="rect">
            <a:avLst/>
          </a:prstGeom>
          <a:noFill/>
        </p:spPr>
        <p:txBody>
          <a:bodyPr wrap="square" lIns="0" rIns="0" tIns="0" bIns="0">
            <a:spAutoFit/>
          </a:bodyPr>
          <a:lstStyle/>
          <a:p>
            <a:pPr>
              <a:lnSpc>
                <a:spcPct val="120000"/>
              </a:lnSpc>
              <a:spcAft>
                <a:spcPts val="0"/>
              </a:spcAft>
              <a:defRPr sz="2000" b="0">
                <a:solidFill>
                  <a:srgbClr val="181D16"/>
                </a:solidFill>
                <a:latin typeface="Arial"/>
              </a:defRPr>
            </a:pPr>
            <a:r>
              <a:t>Appealing, but the wrong color</a:t>
            </a:r>
          </a:p>
        </p:txBody>
      </p:sp>
      <p:sp>
        <p:nvSpPr>
          <p:cNvPr id="10" name="TextBox 9"/>
          <p:cNvSpPr txBox="1"/>
          <p:nvPr/>
        </p:nvSpPr>
        <p:spPr>
          <a:xfrm>
            <a:off x="6309360" y="5166360"/>
            <a:ext cx="4846320" cy="457200"/>
          </a:xfrm>
          <a:prstGeom prst="rect">
            <a:avLst/>
          </a:prstGeom>
          <a:noFill/>
        </p:spPr>
        <p:txBody>
          <a:bodyPr wrap="square" lIns="0" rIns="0" tIns="0" bIns="0">
            <a:spAutoFit/>
          </a:bodyPr>
          <a:lstStyle/>
          <a:p>
            <a:pPr>
              <a:lnSpc>
                <a:spcPct val="120000"/>
              </a:lnSpc>
              <a:spcAft>
                <a:spcPts val="0"/>
              </a:spcAft>
              <a:defRPr sz="2000" b="0">
                <a:solidFill>
                  <a:srgbClr val="181D16"/>
                </a:solidFill>
                <a:latin typeface="Arial"/>
              </a:defRPr>
            </a:pPr>
            <a:r>
              <a:t>Correct color and readable shape</a:t>
            </a:r>
          </a:p>
        </p:txBody>
      </p:sp>
      <p:sp>
        <p:nvSpPr>
          <p:cNvPr id="11" name="TextBox 10"/>
          <p:cNvSpPr txBox="1"/>
          <p:nvPr/>
        </p:nvSpPr>
        <p:spPr>
          <a:xfrm>
            <a:off x="896112" y="5779008"/>
            <a:ext cx="10241280" cy="548640"/>
          </a:xfrm>
          <a:prstGeom prst="rect">
            <a:avLst/>
          </a:prstGeom>
          <a:noFill/>
        </p:spPr>
        <p:txBody>
          <a:bodyPr wrap="square" lIns="0" rIns="0" tIns="0" bIns="0">
            <a:spAutoFit/>
          </a:bodyPr>
          <a:lstStyle/>
          <a:p>
            <a:pPr>
              <a:lnSpc>
                <a:spcPct val="120000"/>
              </a:lnSpc>
              <a:spcAft>
                <a:spcPts val="0"/>
              </a:spcAft>
              <a:defRPr sz="1800" b="0">
                <a:solidFill>
                  <a:srgbClr val="181D16"/>
                </a:solidFill>
                <a:latin typeface="Arial"/>
              </a:defRPr>
            </a:pPr>
            <a:r>
              <a:t>Hypothesis: people prefer tuned outputs, with validity and editability preserved.</a:t>
            </a:r>
          </a:p>
        </p:txBody>
      </p:sp>
      <p:sp>
        <p:nvSpPr>
          <p:cNvPr id="12" name="TextBox 11"/>
          <p:cNvSpPr txBox="1"/>
          <p:nvPr/>
        </p:nvSpPr>
        <p:spPr>
          <a:xfrm>
            <a:off x="896112" y="6419088"/>
            <a:ext cx="9784080" cy="219456"/>
          </a:xfrm>
          <a:prstGeom prst="rect">
            <a:avLst/>
          </a:prstGeom>
          <a:noFill/>
        </p:spPr>
        <p:txBody>
          <a:bodyPr wrap="square" lIns="0" rIns="0" tIns="0" bIns="0">
            <a:spAutoFit/>
          </a:bodyPr>
          <a:lstStyle/>
          <a:p>
            <a:pPr>
              <a:lnSpc>
                <a:spcPct val="120000"/>
              </a:lnSpc>
              <a:spcAft>
                <a:spcPts val="0"/>
              </a:spcAft>
              <a:defRPr sz="1100" b="0">
                <a:solidFill>
                  <a:srgbClr val="686C66"/>
                </a:solidFill>
                <a:latin typeface="Arial"/>
              </a:defRPr>
            </a:pPr>
            <a:r>
              <a:t>Illustrative reference programs, not a model comparison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lnSpc>
                <a:spcPct val="120000"/>
              </a:lnSpc>
              <a:spcAft>
                <a:spcPts val="0"/>
              </a:spcAft>
              <a:defRPr sz="3600" b="0">
                <a:solidFill>
                  <a:srgbClr val="181D16"/>
                </a:solidFill>
                <a:latin typeface="Arial"/>
              </a:defRPr>
            </a:pPr>
            <a:r>
              <a:t>Learn from the picture; update the code model</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lnSpc>
                <a:spcPct val="120000"/>
              </a:lnSpc>
              <a:spcAft>
                <a:spcPts val="0"/>
              </a:spcAft>
              <a:defRPr sz="1100" b="0">
                <a:solidFill>
                  <a:srgbClr val="686C66"/>
                </a:solidFill>
                <a:latin typeface="Arial"/>
              </a:defRPr>
            </a:pPr>
            <a:r>
              <a:t>04/06</a:t>
            </a:r>
          </a:p>
        </p:txBody>
      </p:sp>
      <p:sp>
        <p:nvSpPr>
          <p:cNvPr id="5" name="TextBox 4"/>
          <p:cNvSpPr txBox="1"/>
          <p:nvPr/>
        </p:nvSpPr>
        <p:spPr>
          <a:xfrm>
            <a:off x="896112" y="1938528"/>
            <a:ext cx="10058400" cy="457200"/>
          </a:xfrm>
          <a:prstGeom prst="rect">
            <a:avLst/>
          </a:prstGeom>
          <a:noFill/>
        </p:spPr>
        <p:txBody>
          <a:bodyPr wrap="square" lIns="0" rIns="0" tIns="0" bIns="0">
            <a:spAutoFit/>
          </a:bodyPr>
          <a:lstStyle/>
          <a:p>
            <a:pPr>
              <a:lnSpc>
                <a:spcPct val="120000"/>
              </a:lnSpc>
              <a:spcAft>
                <a:spcPts val="0"/>
              </a:spcAft>
              <a:defRPr sz="2400" b="0">
                <a:solidFill>
                  <a:srgbClr val="7963AF"/>
                </a:solidFill>
                <a:latin typeface="Arial"/>
              </a:defRPr>
            </a:pPr>
            <a:r>
              <a:t>Qwen2.5-Coder-7B-Instruct</a:t>
            </a:r>
          </a:p>
        </p:txBody>
      </p:sp>
      <p:sp>
        <p:nvSpPr>
          <p:cNvPr id="6" name="TextBox 5"/>
          <p:cNvSpPr txBox="1"/>
          <p:nvPr/>
        </p:nvSpPr>
        <p:spPr>
          <a:xfrm>
            <a:off x="896112" y="2880360"/>
            <a:ext cx="914400" cy="457200"/>
          </a:xfrm>
          <a:prstGeom prst="rect">
            <a:avLst/>
          </a:prstGeom>
          <a:noFill/>
        </p:spPr>
        <p:txBody>
          <a:bodyPr wrap="square" lIns="0" rIns="0" tIns="0" bIns="0">
            <a:spAutoFit/>
          </a:bodyPr>
          <a:lstStyle/>
          <a:p>
            <a:pPr>
              <a:lnSpc>
                <a:spcPct val="120000"/>
              </a:lnSpc>
              <a:spcAft>
                <a:spcPts val="0"/>
              </a:spcAft>
              <a:defRPr sz="2400" b="0">
                <a:solidFill>
                  <a:srgbClr val="C65326"/>
                </a:solidFill>
                <a:latin typeface="Arial"/>
              </a:defRPr>
            </a:pPr>
            <a:r>
              <a:t>01</a:t>
            </a:r>
          </a:p>
        </p:txBody>
      </p:sp>
      <p:sp>
        <p:nvSpPr>
          <p:cNvPr id="7" name="TextBox 6"/>
          <p:cNvSpPr txBox="1"/>
          <p:nvPr/>
        </p:nvSpPr>
        <p:spPr>
          <a:xfrm>
            <a:off x="896112" y="3575304"/>
            <a:ext cx="2423160" cy="77724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Two programs</a:t>
            </a:r>
          </a:p>
        </p:txBody>
      </p:sp>
      <p:sp>
        <p:nvSpPr>
          <p:cNvPr id="8" name="TextBox 7"/>
          <p:cNvSpPr txBox="1"/>
          <p:nvPr/>
        </p:nvSpPr>
        <p:spPr>
          <a:xfrm>
            <a:off x="896112" y="4517136"/>
            <a:ext cx="2377440" cy="777240"/>
          </a:xfrm>
          <a:prstGeom prst="rect">
            <a:avLst/>
          </a:prstGeom>
          <a:noFill/>
        </p:spPr>
        <p:txBody>
          <a:bodyPr wrap="square" lIns="0" rIns="0" tIns="0" bIns="0">
            <a:spAutoFit/>
          </a:bodyPr>
          <a:lstStyle/>
          <a:p>
            <a:pPr>
              <a:lnSpc>
                <a:spcPct val="120000"/>
              </a:lnSpc>
              <a:spcAft>
                <a:spcPts val="0"/>
              </a:spcAft>
              <a:defRPr sz="1800" b="0">
                <a:solidFill>
                  <a:srgbClr val="686C66"/>
                </a:solidFill>
                <a:latin typeface="Arial"/>
              </a:defRPr>
            </a:pPr>
            <a:r>
              <a:t>Same prompt</a:t>
            </a:r>
          </a:p>
        </p:txBody>
      </p:sp>
      <p:sp>
        <p:nvSpPr>
          <p:cNvPr id="9" name="TextBox 8"/>
          <p:cNvSpPr txBox="1"/>
          <p:nvPr/>
        </p:nvSpPr>
        <p:spPr>
          <a:xfrm>
            <a:off x="3136392" y="2944368"/>
            <a:ext cx="365760" cy="457200"/>
          </a:xfrm>
          <a:prstGeom prst="rect">
            <a:avLst/>
          </a:prstGeom>
          <a:noFill/>
        </p:spPr>
        <p:txBody>
          <a:bodyPr wrap="square" lIns="0" rIns="0" tIns="0" bIns="0">
            <a:spAutoFit/>
          </a:bodyPr>
          <a:lstStyle/>
          <a:p>
            <a:pPr>
              <a:lnSpc>
                <a:spcPct val="120000"/>
              </a:lnSpc>
              <a:spcAft>
                <a:spcPts val="0"/>
              </a:spcAft>
              <a:defRPr sz="2200" b="0">
                <a:solidFill>
                  <a:srgbClr val="686C66"/>
                </a:solidFill>
                <a:latin typeface="Arial"/>
              </a:defRPr>
            </a:pPr>
            <a:r>
              <a:t>→</a:t>
            </a:r>
          </a:p>
        </p:txBody>
      </p:sp>
      <p:sp>
        <p:nvSpPr>
          <p:cNvPr id="10" name="TextBox 9"/>
          <p:cNvSpPr txBox="1"/>
          <p:nvPr/>
        </p:nvSpPr>
        <p:spPr>
          <a:xfrm>
            <a:off x="3621024" y="2880360"/>
            <a:ext cx="914400" cy="457200"/>
          </a:xfrm>
          <a:prstGeom prst="rect">
            <a:avLst/>
          </a:prstGeom>
          <a:noFill/>
        </p:spPr>
        <p:txBody>
          <a:bodyPr wrap="square" lIns="0" rIns="0" tIns="0" bIns="0">
            <a:spAutoFit/>
          </a:bodyPr>
          <a:lstStyle/>
          <a:p>
            <a:pPr>
              <a:lnSpc>
                <a:spcPct val="120000"/>
              </a:lnSpc>
              <a:spcAft>
                <a:spcPts val="0"/>
              </a:spcAft>
              <a:defRPr sz="2400" b="0">
                <a:solidFill>
                  <a:srgbClr val="C65326"/>
                </a:solidFill>
                <a:latin typeface="Arial"/>
              </a:defRPr>
            </a:pPr>
            <a:r>
              <a:t>02</a:t>
            </a:r>
          </a:p>
        </p:txBody>
      </p:sp>
      <p:sp>
        <p:nvSpPr>
          <p:cNvPr id="11" name="TextBox 10"/>
          <p:cNvSpPr txBox="1"/>
          <p:nvPr/>
        </p:nvSpPr>
        <p:spPr>
          <a:xfrm>
            <a:off x="3621024" y="3575304"/>
            <a:ext cx="2423160" cy="77724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Render + check</a:t>
            </a:r>
          </a:p>
        </p:txBody>
      </p:sp>
      <p:sp>
        <p:nvSpPr>
          <p:cNvPr id="12" name="TextBox 11"/>
          <p:cNvSpPr txBox="1"/>
          <p:nvPr/>
        </p:nvSpPr>
        <p:spPr>
          <a:xfrm>
            <a:off x="3621024" y="4517136"/>
            <a:ext cx="2377440" cy="777240"/>
          </a:xfrm>
          <a:prstGeom prst="rect">
            <a:avLst/>
          </a:prstGeom>
          <a:noFill/>
        </p:spPr>
        <p:txBody>
          <a:bodyPr wrap="square" lIns="0" rIns="0" tIns="0" bIns="0">
            <a:spAutoFit/>
          </a:bodyPr>
          <a:lstStyle/>
          <a:p>
            <a:pPr>
              <a:lnSpc>
                <a:spcPct val="120000"/>
              </a:lnSpc>
              <a:spcAft>
                <a:spcPts val="0"/>
              </a:spcAft>
              <a:defRPr sz="1800" b="0">
                <a:solidFill>
                  <a:srgbClr val="686C66"/>
                </a:solidFill>
                <a:latin typeface="Arial"/>
              </a:defRPr>
            </a:pPr>
            <a:r>
              <a:t>Log invalid code</a:t>
            </a:r>
          </a:p>
        </p:txBody>
      </p:sp>
      <p:sp>
        <p:nvSpPr>
          <p:cNvPr id="13" name="TextBox 12"/>
          <p:cNvSpPr txBox="1"/>
          <p:nvPr/>
        </p:nvSpPr>
        <p:spPr>
          <a:xfrm>
            <a:off x="5861304" y="2944368"/>
            <a:ext cx="365760" cy="457200"/>
          </a:xfrm>
          <a:prstGeom prst="rect">
            <a:avLst/>
          </a:prstGeom>
          <a:noFill/>
        </p:spPr>
        <p:txBody>
          <a:bodyPr wrap="square" lIns="0" rIns="0" tIns="0" bIns="0">
            <a:spAutoFit/>
          </a:bodyPr>
          <a:lstStyle/>
          <a:p>
            <a:pPr>
              <a:lnSpc>
                <a:spcPct val="120000"/>
              </a:lnSpc>
              <a:spcAft>
                <a:spcPts val="0"/>
              </a:spcAft>
              <a:defRPr sz="2200" b="0">
                <a:solidFill>
                  <a:srgbClr val="686C66"/>
                </a:solidFill>
                <a:latin typeface="Arial"/>
              </a:defRPr>
            </a:pPr>
            <a:r>
              <a:t>→</a:t>
            </a:r>
          </a:p>
        </p:txBody>
      </p:sp>
      <p:sp>
        <p:nvSpPr>
          <p:cNvPr id="14" name="TextBox 13"/>
          <p:cNvSpPr txBox="1"/>
          <p:nvPr/>
        </p:nvSpPr>
        <p:spPr>
          <a:xfrm>
            <a:off x="6345936" y="2880360"/>
            <a:ext cx="914400" cy="457200"/>
          </a:xfrm>
          <a:prstGeom prst="rect">
            <a:avLst/>
          </a:prstGeom>
          <a:noFill/>
        </p:spPr>
        <p:txBody>
          <a:bodyPr wrap="square" lIns="0" rIns="0" tIns="0" bIns="0">
            <a:spAutoFit/>
          </a:bodyPr>
          <a:lstStyle/>
          <a:p>
            <a:pPr>
              <a:lnSpc>
                <a:spcPct val="120000"/>
              </a:lnSpc>
              <a:spcAft>
                <a:spcPts val="0"/>
              </a:spcAft>
              <a:defRPr sz="2400" b="0">
                <a:solidFill>
                  <a:srgbClr val="C65326"/>
                </a:solidFill>
                <a:latin typeface="Arial"/>
              </a:defRPr>
            </a:pPr>
            <a:r>
              <a:t>03</a:t>
            </a:r>
          </a:p>
        </p:txBody>
      </p:sp>
      <p:sp>
        <p:nvSpPr>
          <p:cNvPr id="15" name="TextBox 14"/>
          <p:cNvSpPr txBox="1"/>
          <p:nvPr/>
        </p:nvSpPr>
        <p:spPr>
          <a:xfrm>
            <a:off x="6345936" y="3575304"/>
            <a:ext cx="2423160" cy="77724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Human choice</a:t>
            </a:r>
          </a:p>
        </p:txBody>
      </p:sp>
      <p:sp>
        <p:nvSpPr>
          <p:cNvPr id="16" name="TextBox 15"/>
          <p:cNvSpPr txBox="1"/>
          <p:nvPr/>
        </p:nvSpPr>
        <p:spPr>
          <a:xfrm>
            <a:off x="6345936" y="4517136"/>
            <a:ext cx="2377440" cy="777240"/>
          </a:xfrm>
          <a:prstGeom prst="rect">
            <a:avLst/>
          </a:prstGeom>
          <a:noFill/>
        </p:spPr>
        <p:txBody>
          <a:bodyPr wrap="square" lIns="0" rIns="0" tIns="0" bIns="0">
            <a:spAutoFit/>
          </a:bodyPr>
          <a:lstStyle/>
          <a:p>
            <a:pPr>
              <a:lnSpc>
                <a:spcPct val="120000"/>
              </a:lnSpc>
              <a:spcAft>
                <a:spcPts val="0"/>
              </a:spcAft>
              <a:defRPr sz="1800" b="0">
                <a:solidFill>
                  <a:srgbClr val="686C66"/>
                </a:solidFill>
                <a:latin typeface="Arial"/>
              </a:defRPr>
            </a:pPr>
            <a:r>
              <a:t>Keep both programs</a:t>
            </a:r>
          </a:p>
        </p:txBody>
      </p:sp>
      <p:sp>
        <p:nvSpPr>
          <p:cNvPr id="17" name="TextBox 16"/>
          <p:cNvSpPr txBox="1"/>
          <p:nvPr/>
        </p:nvSpPr>
        <p:spPr>
          <a:xfrm>
            <a:off x="8586216" y="2944368"/>
            <a:ext cx="365760" cy="457200"/>
          </a:xfrm>
          <a:prstGeom prst="rect">
            <a:avLst/>
          </a:prstGeom>
          <a:noFill/>
        </p:spPr>
        <p:txBody>
          <a:bodyPr wrap="square" lIns="0" rIns="0" tIns="0" bIns="0">
            <a:spAutoFit/>
          </a:bodyPr>
          <a:lstStyle/>
          <a:p>
            <a:pPr>
              <a:lnSpc>
                <a:spcPct val="120000"/>
              </a:lnSpc>
              <a:spcAft>
                <a:spcPts val="0"/>
              </a:spcAft>
              <a:defRPr sz="2200" b="0">
                <a:solidFill>
                  <a:srgbClr val="686C66"/>
                </a:solidFill>
                <a:latin typeface="Arial"/>
              </a:defRPr>
            </a:pPr>
            <a:r>
              <a:t>→</a:t>
            </a:r>
          </a:p>
        </p:txBody>
      </p:sp>
      <p:sp>
        <p:nvSpPr>
          <p:cNvPr id="18" name="TextBox 17"/>
          <p:cNvSpPr txBox="1"/>
          <p:nvPr/>
        </p:nvSpPr>
        <p:spPr>
          <a:xfrm>
            <a:off x="9070848" y="2880360"/>
            <a:ext cx="914400" cy="457200"/>
          </a:xfrm>
          <a:prstGeom prst="rect">
            <a:avLst/>
          </a:prstGeom>
          <a:noFill/>
        </p:spPr>
        <p:txBody>
          <a:bodyPr wrap="square" lIns="0" rIns="0" tIns="0" bIns="0">
            <a:spAutoFit/>
          </a:bodyPr>
          <a:lstStyle/>
          <a:p>
            <a:pPr>
              <a:lnSpc>
                <a:spcPct val="120000"/>
              </a:lnSpc>
              <a:spcAft>
                <a:spcPts val="0"/>
              </a:spcAft>
              <a:defRPr sz="2400" b="0">
                <a:solidFill>
                  <a:srgbClr val="C65326"/>
                </a:solidFill>
                <a:latin typeface="Arial"/>
              </a:defRPr>
            </a:pPr>
            <a:r>
              <a:t>04</a:t>
            </a:r>
          </a:p>
        </p:txBody>
      </p:sp>
      <p:sp>
        <p:nvSpPr>
          <p:cNvPr id="19" name="TextBox 18"/>
          <p:cNvSpPr txBox="1"/>
          <p:nvPr/>
        </p:nvSpPr>
        <p:spPr>
          <a:xfrm>
            <a:off x="9070848" y="3575304"/>
            <a:ext cx="2423160" cy="77724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Token-level DPO</a:t>
            </a:r>
          </a:p>
        </p:txBody>
      </p:sp>
      <p:sp>
        <p:nvSpPr>
          <p:cNvPr id="20" name="TextBox 19"/>
          <p:cNvSpPr txBox="1"/>
          <p:nvPr/>
        </p:nvSpPr>
        <p:spPr>
          <a:xfrm>
            <a:off x="9070848" y="4517136"/>
            <a:ext cx="2377440" cy="777240"/>
          </a:xfrm>
          <a:prstGeom prst="rect">
            <a:avLst/>
          </a:prstGeom>
          <a:noFill/>
        </p:spPr>
        <p:txBody>
          <a:bodyPr wrap="square" lIns="0" rIns="0" tIns="0" bIns="0">
            <a:spAutoFit/>
          </a:bodyPr>
          <a:lstStyle/>
          <a:p>
            <a:pPr>
              <a:lnSpc>
                <a:spcPct val="120000"/>
              </a:lnSpc>
              <a:spcAft>
                <a:spcPts val="0"/>
              </a:spcAft>
              <a:defRPr sz="1800" b="0">
                <a:solidFill>
                  <a:srgbClr val="686C66"/>
                </a:solidFill>
                <a:latin typeface="Arial"/>
              </a:defRPr>
            </a:pPr>
            <a:r>
              <a:t>LoRA + frozen reference</a:t>
            </a:r>
          </a:p>
        </p:txBody>
      </p:sp>
      <p:sp>
        <p:nvSpPr>
          <p:cNvPr id="21" name="TextBox 20"/>
          <p:cNvSpPr txBox="1"/>
          <p:nvPr/>
        </p:nvSpPr>
        <p:spPr>
          <a:xfrm>
            <a:off x="896112" y="5605272"/>
            <a:ext cx="10241280" cy="457200"/>
          </a:xfrm>
          <a:prstGeom prst="rect">
            <a:avLst/>
          </a:prstGeom>
          <a:noFill/>
        </p:spPr>
        <p:txBody>
          <a:bodyPr wrap="square" lIns="0" rIns="0" tIns="0" bIns="0">
            <a:spAutoFit/>
          </a:bodyPr>
          <a:lstStyle/>
          <a:p>
            <a:pPr>
              <a:lnSpc>
                <a:spcPct val="120000"/>
              </a:lnSpc>
              <a:spcAft>
                <a:spcPts val="0"/>
              </a:spcAft>
              <a:defRPr sz="2200" b="0">
                <a:solidFill>
                  <a:srgbClr val="181D16"/>
                </a:solidFill>
                <a:latin typeface="Arial"/>
              </a:defRPr>
            </a:pPr>
            <a:r>
              <a:t>Use language-model DPO, not a diffusion denoising loss.</a:t>
            </a:r>
          </a:p>
        </p:txBody>
      </p:sp>
      <p:sp>
        <p:nvSpPr>
          <p:cNvPr id="22" name="TextBox 21"/>
          <p:cNvSpPr txBox="1"/>
          <p:nvPr/>
        </p:nvSpPr>
        <p:spPr>
          <a:xfrm>
            <a:off x="896112" y="6245352"/>
            <a:ext cx="9875520" cy="320040"/>
          </a:xfrm>
          <a:prstGeom prst="rect">
            <a:avLst/>
          </a:prstGeom>
          <a:noFill/>
        </p:spPr>
        <p:txBody>
          <a:bodyPr wrap="square" lIns="0" rIns="0" tIns="0" bIns="0">
            <a:spAutoFit/>
          </a:bodyPr>
          <a:lstStyle/>
          <a:p>
            <a:pPr>
              <a:lnSpc>
                <a:spcPct val="120000"/>
              </a:lnSpc>
              <a:spcAft>
                <a:spcPts val="0"/>
              </a:spcAft>
              <a:defRPr sz="1300" b="0">
                <a:solidFill>
                  <a:srgbClr val="686C66"/>
                </a:solidFill>
                <a:latin typeface="Arial"/>
              </a:defRPr>
            </a:pPr>
            <a:r>
              <a:t>Implemented: renderer, checks, and pair export. Training is proposed.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lnSpc>
                <a:spcPct val="120000"/>
              </a:lnSpc>
              <a:spcAft>
                <a:spcPts val="0"/>
              </a:spcAft>
              <a:defRPr sz="3600" b="0">
                <a:solidFill>
                  <a:srgbClr val="181D16"/>
                </a:solidFill>
                <a:latin typeface="Arial"/>
              </a:defRPr>
            </a:pPr>
            <a:r>
              <a:t>A small dataset with a held-out comparison</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lnSpc>
                <a:spcPct val="120000"/>
              </a:lnSpc>
              <a:spcAft>
                <a:spcPts val="0"/>
              </a:spcAft>
              <a:defRPr sz="1100" b="0">
                <a:solidFill>
                  <a:srgbClr val="686C66"/>
                </a:solidFill>
                <a:latin typeface="Arial"/>
              </a:defRPr>
            </a:pPr>
            <a:r>
              <a:t>05/06</a:t>
            </a:r>
          </a:p>
        </p:txBody>
      </p:sp>
      <p:sp>
        <p:nvSpPr>
          <p:cNvPr id="5" name="TextBox 4"/>
          <p:cNvSpPr txBox="1"/>
          <p:nvPr/>
        </p:nvSpPr>
        <p:spPr>
          <a:xfrm>
            <a:off x="896112" y="2148840"/>
            <a:ext cx="4572000" cy="594360"/>
          </a:xfrm>
          <a:prstGeom prst="rect">
            <a:avLst/>
          </a:prstGeom>
          <a:noFill/>
        </p:spPr>
        <p:txBody>
          <a:bodyPr wrap="square" lIns="0" rIns="0" tIns="0" bIns="0">
            <a:spAutoFit/>
          </a:bodyPr>
          <a:lstStyle/>
          <a:p>
            <a:pPr>
              <a:lnSpc>
                <a:spcPct val="120000"/>
              </a:lnSpc>
              <a:spcAft>
                <a:spcPts val="0"/>
              </a:spcAft>
              <a:defRPr sz="3700" b="0">
                <a:solidFill>
                  <a:srgbClr val="7963AF"/>
                </a:solidFill>
                <a:latin typeface="Arial"/>
              </a:defRPr>
            </a:pPr>
            <a:r>
              <a:t>120 prompts</a:t>
            </a:r>
          </a:p>
        </p:txBody>
      </p:sp>
      <p:sp>
        <p:nvSpPr>
          <p:cNvPr id="6" name="TextBox 5"/>
          <p:cNvSpPr txBox="1"/>
          <p:nvPr/>
        </p:nvSpPr>
        <p:spPr>
          <a:xfrm>
            <a:off x="896112" y="2898648"/>
            <a:ext cx="4572000" cy="45720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100 train / 20 test</a:t>
            </a:r>
          </a:p>
        </p:txBody>
      </p:sp>
      <p:sp>
        <p:nvSpPr>
          <p:cNvPr id="7" name="TextBox 6"/>
          <p:cNvSpPr txBox="1"/>
          <p:nvPr/>
        </p:nvSpPr>
        <p:spPr>
          <a:xfrm>
            <a:off x="896112" y="3602736"/>
            <a:ext cx="5029200" cy="457200"/>
          </a:xfrm>
          <a:prstGeom prst="rect">
            <a:avLst/>
          </a:prstGeom>
          <a:noFill/>
        </p:spPr>
        <p:txBody>
          <a:bodyPr wrap="square" lIns="0" rIns="0" tIns="0" bIns="0">
            <a:spAutoFit/>
          </a:bodyPr>
          <a:lstStyle/>
          <a:p>
            <a:pPr>
              <a:lnSpc>
                <a:spcPct val="120000"/>
              </a:lnSpc>
              <a:spcAft>
                <a:spcPts val="0"/>
              </a:spcAft>
              <a:defRPr sz="2000" b="0">
                <a:solidFill>
                  <a:srgbClr val="181D16"/>
                </a:solidFill>
                <a:latin typeface="Arial"/>
              </a:defRPr>
            </a:pPr>
            <a:r>
              <a:t>5 objects × 6 colors × 4 positions</a:t>
            </a:r>
          </a:p>
        </p:txBody>
      </p:sp>
      <p:sp>
        <p:nvSpPr>
          <p:cNvPr id="8" name="TextBox 7"/>
          <p:cNvSpPr txBox="1"/>
          <p:nvPr/>
        </p:nvSpPr>
        <p:spPr>
          <a:xfrm>
            <a:off x="896112" y="4160520"/>
            <a:ext cx="5029200" cy="457200"/>
          </a:xfrm>
          <a:prstGeom prst="rect">
            <a:avLst/>
          </a:prstGeom>
          <a:noFill/>
        </p:spPr>
        <p:txBody>
          <a:bodyPr wrap="square" lIns="0" rIns="0" tIns="0" bIns="0">
            <a:spAutoFit/>
          </a:bodyPr>
          <a:lstStyle/>
          <a:p>
            <a:pPr>
              <a:lnSpc>
                <a:spcPct val="120000"/>
              </a:lnSpc>
              <a:spcAft>
                <a:spcPts val="0"/>
              </a:spcAft>
              <a:defRPr sz="1800" b="0">
                <a:solidFill>
                  <a:srgbClr val="686C66"/>
                </a:solidFill>
                <a:latin typeface="Arial"/>
              </a:defRPr>
            </a:pPr>
            <a:r>
              <a:t>32 × 32 canvas · fixed scene splits</a:t>
            </a:r>
          </a:p>
        </p:txBody>
      </p:sp>
      <p:sp>
        <p:nvSpPr>
          <p:cNvPr id="9" name="TextBox 8"/>
          <p:cNvSpPr txBox="1"/>
          <p:nvPr/>
        </p:nvSpPr>
        <p:spPr>
          <a:xfrm>
            <a:off x="6309360" y="2148840"/>
            <a:ext cx="4754880" cy="77724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Base model vs. preference-tuned model</a:t>
            </a:r>
          </a:p>
        </p:txBody>
      </p:sp>
      <p:sp>
        <p:nvSpPr>
          <p:cNvPr id="10" name="TextBox 9"/>
          <p:cNvSpPr txBox="1"/>
          <p:nvPr/>
        </p:nvSpPr>
        <p:spPr>
          <a:xfrm>
            <a:off x="6309360" y="3154680"/>
            <a:ext cx="4754880" cy="731520"/>
          </a:xfrm>
          <a:prstGeom prst="rect">
            <a:avLst/>
          </a:prstGeom>
          <a:noFill/>
        </p:spPr>
        <p:txBody>
          <a:bodyPr wrap="square" lIns="0" rIns="0" tIns="0" bIns="0">
            <a:spAutoFit/>
          </a:bodyPr>
          <a:lstStyle/>
          <a:p>
            <a:pPr>
              <a:lnSpc>
                <a:spcPct val="120000"/>
              </a:lnSpc>
              <a:spcAft>
                <a:spcPts val="0"/>
              </a:spcAft>
              <a:defRPr sz="2100" b="0">
                <a:solidFill>
                  <a:srgbClr val="7963AF"/>
                </a:solidFill>
                <a:latin typeface="Arial"/>
              </a:defRPr>
            </a:pPr>
            <a:r>
              <a:t>20 test prompts × 3 seeds = 60 comparisons</a:t>
            </a:r>
          </a:p>
        </p:txBody>
      </p:sp>
      <p:sp>
        <p:nvSpPr>
          <p:cNvPr id="11" name="TextBox 10"/>
          <p:cNvSpPr txBox="1"/>
          <p:nvPr/>
        </p:nvSpPr>
        <p:spPr>
          <a:xfrm>
            <a:off x="6309360" y="4096512"/>
            <a:ext cx="4754880" cy="457200"/>
          </a:xfrm>
          <a:prstGeom prst="rect">
            <a:avLst/>
          </a:prstGeom>
          <a:noFill/>
        </p:spPr>
        <p:txBody>
          <a:bodyPr wrap="square" lIns="0" rIns="0" tIns="0" bIns="0">
            <a:spAutoFit/>
          </a:bodyPr>
          <a:lstStyle/>
          <a:p>
            <a:pPr>
              <a:lnSpc>
                <a:spcPct val="120000"/>
              </a:lnSpc>
              <a:spcAft>
                <a:spcPts val="0"/>
              </a:spcAft>
              <a:defRPr sz="1800" b="0">
                <a:solidFill>
                  <a:srgbClr val="181D16"/>
                </a:solidFill>
                <a:latin typeface="Arial"/>
              </a:defRPr>
            </a:pPr>
            <a:r>
              <a:t>Valid code + prompt compliance</a:t>
            </a:r>
          </a:p>
        </p:txBody>
      </p:sp>
      <p:sp>
        <p:nvSpPr>
          <p:cNvPr id="12" name="TextBox 11"/>
          <p:cNvSpPr txBox="1"/>
          <p:nvPr/>
        </p:nvSpPr>
        <p:spPr>
          <a:xfrm>
            <a:off x="6309360" y="4690872"/>
            <a:ext cx="4754880" cy="457200"/>
          </a:xfrm>
          <a:prstGeom prst="rect">
            <a:avLst/>
          </a:prstGeom>
          <a:noFill/>
        </p:spPr>
        <p:txBody>
          <a:bodyPr wrap="square" lIns="0" rIns="0" tIns="0" bIns="0">
            <a:spAutoFit/>
          </a:bodyPr>
          <a:lstStyle/>
          <a:p>
            <a:pPr>
              <a:lnSpc>
                <a:spcPct val="120000"/>
              </a:lnSpc>
              <a:spcAft>
                <a:spcPts val="0"/>
              </a:spcAft>
              <a:defRPr sz="1800" b="0">
                <a:solidFill>
                  <a:srgbClr val="181D16"/>
                </a:solidFill>
                <a:latin typeface="Arial"/>
              </a:defRPr>
            </a:pPr>
            <a:r>
              <a:t>Human preference + appearance</a:t>
            </a:r>
          </a:p>
        </p:txBody>
      </p:sp>
      <p:sp>
        <p:nvSpPr>
          <p:cNvPr id="13" name="TextBox 12"/>
          <p:cNvSpPr txBox="1"/>
          <p:nvPr/>
        </p:nvSpPr>
        <p:spPr>
          <a:xfrm>
            <a:off x="6309360" y="5285232"/>
            <a:ext cx="4754880" cy="457200"/>
          </a:xfrm>
          <a:prstGeom prst="rect">
            <a:avLst/>
          </a:prstGeom>
          <a:noFill/>
        </p:spPr>
        <p:txBody>
          <a:bodyPr wrap="square" lIns="0" rIns="0" tIns="0" bIns="0">
            <a:spAutoFit/>
          </a:bodyPr>
          <a:lstStyle/>
          <a:p>
            <a:pPr>
              <a:lnSpc>
                <a:spcPct val="120000"/>
              </a:lnSpc>
              <a:spcAft>
                <a:spcPts val="0"/>
              </a:spcAft>
              <a:defRPr sz="1800" b="0">
                <a:solidFill>
                  <a:srgbClr val="181D16"/>
                </a:solidFill>
                <a:latin typeface="Arial"/>
              </a:defRPr>
            </a:pPr>
            <a:r>
              <a:t>Recolor without moving other pixels</a:t>
            </a:r>
          </a:p>
        </p:txBody>
      </p:sp>
      <p:sp>
        <p:nvSpPr>
          <p:cNvPr id="14" name="TextBox 13"/>
          <p:cNvSpPr txBox="1"/>
          <p:nvPr/>
        </p:nvSpPr>
        <p:spPr>
          <a:xfrm>
            <a:off x="896112" y="5961888"/>
            <a:ext cx="10241280" cy="502920"/>
          </a:xfrm>
          <a:prstGeom prst="rect">
            <a:avLst/>
          </a:prstGeom>
          <a:noFill/>
        </p:spPr>
        <p:txBody>
          <a:bodyPr wrap="square" lIns="0" rIns="0" tIns="0" bIns="0">
            <a:spAutoFit/>
          </a:bodyPr>
          <a:lstStyle/>
          <a:p>
            <a:pPr>
              <a:lnSpc>
                <a:spcPct val="120000"/>
              </a:lnSpc>
              <a:spcAft>
                <a:spcPts val="0"/>
              </a:spcAft>
              <a:defRPr sz="2000" b="0">
                <a:solidFill>
                  <a:srgbClr val="181D16"/>
                </a:solidFill>
                <a:latin typeface="Arial"/>
              </a:defRPr>
            </a:pPr>
            <a:r>
              <a:t>Count invalid outputs. Keep test references out of 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lnSpc>
                <a:spcPct val="120000"/>
              </a:lnSpc>
              <a:spcAft>
                <a:spcPts val="0"/>
              </a:spcAft>
              <a:defRPr sz="3600" b="0">
                <a:solidFill>
                  <a:srgbClr val="181D16"/>
                </a:solidFill>
                <a:latin typeface="Arial"/>
              </a:defRPr>
            </a:pPr>
            <a:r>
              <a:t>Better drawings, with code worth keeping</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lnSpc>
                <a:spcPct val="120000"/>
              </a:lnSpc>
              <a:spcAft>
                <a:spcPts val="0"/>
              </a:spcAft>
              <a:defRPr sz="1100" b="0">
                <a:solidFill>
                  <a:srgbClr val="686C66"/>
                </a:solidFill>
                <a:latin typeface="Arial"/>
              </a:defRPr>
            </a:pPr>
            <a:r>
              <a:t>06/06</a:t>
            </a:r>
          </a:p>
        </p:txBody>
      </p:sp>
      <p:sp>
        <p:nvSpPr>
          <p:cNvPr id="5" name="TextBox 4"/>
          <p:cNvSpPr txBox="1"/>
          <p:nvPr/>
        </p:nvSpPr>
        <p:spPr>
          <a:xfrm>
            <a:off x="896112" y="2194560"/>
            <a:ext cx="5120640" cy="594360"/>
          </a:xfrm>
          <a:prstGeom prst="rect">
            <a:avLst/>
          </a:prstGeom>
          <a:noFill/>
        </p:spPr>
        <p:txBody>
          <a:bodyPr wrap="square" lIns="0" rIns="0" tIns="0" bIns="0">
            <a:spAutoFit/>
          </a:bodyPr>
          <a:lstStyle/>
          <a:p>
            <a:pPr>
              <a:lnSpc>
                <a:spcPct val="120000"/>
              </a:lnSpc>
              <a:spcAft>
                <a:spcPts val="0"/>
              </a:spcAft>
              <a:defRPr sz="3200" b="0">
                <a:solidFill>
                  <a:srgbClr val="C65326"/>
                </a:solidFill>
                <a:latin typeface="Arial"/>
              </a:defRPr>
            </a:pPr>
            <a:r>
              <a:t>≥95% valid programs</a:t>
            </a:r>
          </a:p>
        </p:txBody>
      </p:sp>
      <p:sp>
        <p:nvSpPr>
          <p:cNvPr id="6" name="TextBox 5"/>
          <p:cNvSpPr txBox="1"/>
          <p:nvPr/>
        </p:nvSpPr>
        <p:spPr>
          <a:xfrm>
            <a:off x="6382512" y="2194560"/>
            <a:ext cx="5120640" cy="594360"/>
          </a:xfrm>
          <a:prstGeom prst="rect">
            <a:avLst/>
          </a:prstGeom>
          <a:noFill/>
        </p:spPr>
        <p:txBody>
          <a:bodyPr wrap="square" lIns="0" rIns="0" tIns="0" bIns="0">
            <a:spAutoFit/>
          </a:bodyPr>
          <a:lstStyle/>
          <a:p>
            <a:pPr>
              <a:lnSpc>
                <a:spcPct val="120000"/>
              </a:lnSpc>
              <a:spcAft>
                <a:spcPts val="0"/>
              </a:spcAft>
              <a:defRPr sz="3200" b="0">
                <a:solidFill>
                  <a:srgbClr val="7963AF"/>
                </a:solidFill>
                <a:latin typeface="Arial"/>
              </a:defRPr>
            </a:pPr>
            <a:r>
              <a:t>≥60% preference credit</a:t>
            </a:r>
          </a:p>
        </p:txBody>
      </p:sp>
      <p:sp>
        <p:nvSpPr>
          <p:cNvPr id="7" name="TextBox 6"/>
          <p:cNvSpPr txBox="1"/>
          <p:nvPr/>
        </p:nvSpPr>
        <p:spPr>
          <a:xfrm>
            <a:off x="896112" y="3063240"/>
            <a:ext cx="10241280" cy="411480"/>
          </a:xfrm>
          <a:prstGeom prst="rect">
            <a:avLst/>
          </a:prstGeom>
          <a:noFill/>
        </p:spPr>
        <p:txBody>
          <a:bodyPr wrap="square" lIns="0" rIns="0" tIns="0" bIns="0">
            <a:spAutoFit/>
          </a:bodyPr>
          <a:lstStyle/>
          <a:p>
            <a:pPr>
              <a:lnSpc>
                <a:spcPct val="120000"/>
              </a:lnSpc>
              <a:spcAft>
                <a:spcPts val="0"/>
              </a:spcAft>
              <a:defRPr sz="1900" b="0">
                <a:solidFill>
                  <a:srgbClr val="686C66"/>
                </a:solidFill>
                <a:latin typeface="Arial"/>
              </a:defRPr>
            </a:pPr>
            <a:r>
              <a:t>Proposed targets, not results. Report ties and uncertainty.</a:t>
            </a:r>
          </a:p>
        </p:txBody>
      </p:sp>
      <p:sp>
        <p:nvSpPr>
          <p:cNvPr id="8" name="TextBox 7"/>
          <p:cNvSpPr txBox="1"/>
          <p:nvPr/>
        </p:nvSpPr>
        <p:spPr>
          <a:xfrm>
            <a:off x="896112" y="3886200"/>
            <a:ext cx="10058400" cy="45720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Ready: dataset, renderer, checks, and demo</a:t>
            </a:r>
          </a:p>
        </p:txBody>
      </p:sp>
      <p:sp>
        <p:nvSpPr>
          <p:cNvPr id="9" name="TextBox 8"/>
          <p:cNvSpPr txBox="1"/>
          <p:nvPr/>
        </p:nvSpPr>
        <p:spPr>
          <a:xfrm>
            <a:off x="896112" y="4590288"/>
            <a:ext cx="10058400" cy="457200"/>
          </a:xfrm>
          <a:prstGeom prst="rect">
            <a:avLst/>
          </a:prstGeom>
          <a:noFill/>
        </p:spPr>
        <p:txBody>
          <a:bodyPr wrap="square" lIns="0" rIns="0" tIns="0" bIns="0">
            <a:spAutoFit/>
          </a:bodyPr>
          <a:lstStyle/>
          <a:p>
            <a:pPr>
              <a:lnSpc>
                <a:spcPct val="120000"/>
              </a:lnSpc>
              <a:spcAft>
                <a:spcPts val="0"/>
              </a:spcAft>
              <a:defRPr sz="2500" b="0">
                <a:solidFill>
                  <a:srgbClr val="181D16"/>
                </a:solidFill>
                <a:latin typeface="Arial"/>
              </a:defRPr>
            </a:pPr>
            <a:r>
              <a:t>Next: label pairs → train adapter → test</a:t>
            </a:r>
          </a:p>
        </p:txBody>
      </p:sp>
      <p:sp>
        <p:nvSpPr>
          <p:cNvPr id="10" name="TextBox 9"/>
          <p:cNvSpPr txBox="1"/>
          <p:nvPr/>
        </p:nvSpPr>
        <p:spPr>
          <a:xfrm>
            <a:off x="896112" y="5687568"/>
            <a:ext cx="2743200" cy="365760"/>
          </a:xfrm>
          <a:prstGeom prst="rect">
            <a:avLst/>
          </a:prstGeom>
          <a:noFill/>
        </p:spPr>
        <p:txBody>
          <a:bodyPr wrap="square" lIns="0" rIns="0" tIns="0" bIns="0">
            <a:spAutoFit/>
          </a:bodyPr>
          <a:lstStyle/>
          <a:p>
            <a:pPr>
              <a:lnSpc>
                <a:spcPct val="120000"/>
              </a:lnSpc>
              <a:spcAft>
                <a:spcPts val="0"/>
              </a:spcAft>
              <a:defRPr sz="2000" b="0">
                <a:solidFill>
                  <a:srgbClr val="7963AF"/>
                </a:solidFill>
                <a:latin typeface="Arial"/>
              </a:defRPr>
            </a:pPr>
            <a:r>
              <a:rPr u="none">
                <a:solidFill>
                  <a:srgbClr val="7963AF"/>
                </a:solidFill>
                <a:hlinkClick r:id="rId4"/>
              </a:rPr>
              <a:t>Project code</a:t>
            </a:r>
          </a:p>
        </p:txBody>
      </p:sp>
      <p:sp>
        <p:nvSpPr>
          <p:cNvPr id="11" name="TextBox 10"/>
          <p:cNvSpPr txBox="1"/>
          <p:nvPr/>
        </p:nvSpPr>
        <p:spPr>
          <a:xfrm>
            <a:off x="4754880" y="5687568"/>
            <a:ext cx="2743200" cy="365760"/>
          </a:xfrm>
          <a:prstGeom prst="rect">
            <a:avLst/>
          </a:prstGeom>
          <a:noFill/>
        </p:spPr>
        <p:txBody>
          <a:bodyPr wrap="square" lIns="0" rIns="0" tIns="0" bIns="0">
            <a:spAutoFit/>
          </a:bodyPr>
          <a:lstStyle/>
          <a:p>
            <a:pPr>
              <a:lnSpc>
                <a:spcPct val="120000"/>
              </a:lnSpc>
              <a:spcAft>
                <a:spcPts val="0"/>
              </a:spcAft>
              <a:defRPr sz="2000" b="0">
                <a:solidFill>
                  <a:srgbClr val="7963AF"/>
                </a:solidFill>
                <a:latin typeface="Arial"/>
              </a:defRPr>
            </a:pPr>
            <a:r>
              <a:rPr u="none">
                <a:solidFill>
                  <a:srgbClr val="7963AF"/>
                </a:solidFill>
                <a:hlinkClick r:id="rId5"/>
              </a:rPr>
              <a:t>Dataset</a:t>
            </a:r>
          </a:p>
        </p:txBody>
      </p:sp>
      <p:sp>
        <p:nvSpPr>
          <p:cNvPr id="12" name="TextBox 11"/>
          <p:cNvSpPr txBox="1"/>
          <p:nvPr/>
        </p:nvSpPr>
        <p:spPr>
          <a:xfrm>
            <a:off x="896112" y="6217920"/>
            <a:ext cx="9784080" cy="292608"/>
          </a:xfrm>
          <a:prstGeom prst="rect">
            <a:avLst/>
          </a:prstGeom>
          <a:noFill/>
        </p:spPr>
        <p:txBody>
          <a:bodyPr wrap="square" lIns="0" rIns="0" tIns="0" bIns="0">
            <a:spAutoFit/>
          </a:bodyPr>
          <a:lstStyle/>
          <a:p>
            <a:pPr>
              <a:lnSpc>
                <a:spcPct val="120000"/>
              </a:lnSpc>
              <a:spcAft>
                <a:spcPts val="0"/>
              </a:spcAft>
              <a:defRPr sz="1400" b="0">
                <a:solidFill>
                  <a:srgbClr val="686C66"/>
                </a:solidFill>
                <a:latin typeface="Arial"/>
              </a:defRPr>
            </a:pPr>
            <a:r>
              <a:rPr u="none">
                <a:solidFill>
                  <a:srgbClr val="686C66"/>
                </a:solidFill>
                <a:hlinkClick r:id="rId4"/>
              </a:rPr>
              <a:t>github.com/0xABAN/classes/tree/main/ds-340w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AI to Pixelate with Code</dc:title>
  <dc:subject>DS 340W midterm proposal</dc:subject>
  <dc:creator>Adam Torres Encarnacion</dc:creator>
  <cp:keywords>DS 340W, Team 7, midterm, pixel art, preference learning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